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62588E-640E-4793-8F46-4180B8729825}">
  <a:tblStyle styleId="{A862588E-640E-4793-8F46-4180B87298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Computer Networks project simulates a small office with Management, HR, IT and Server VLANs. It uses one Cisco 2911 router, four Cisco 2960 switches, six PCs and one Server-PT. The cover is decorative AI-generated artwork; the actual project appears on slide 3. Source: Four_Department_Office/README.md and the saved Packet Tracer lab.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Five group members. The presenter will enter each member’s name, class, ER number and roll number in the blank editable table, as requested.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Actual project screenshot: Four_Department_Office/Topology_Preview.png. The image is cropped only to remove application chrome and unused space. Management uses VLAN 10 and 192.168.10.0/24; HR uses VLAN 20 and 192.168.20.0/24; IT uses VLAN 30 and 192.168.30.0/24; Server uses VLAN 40 and 192.168.40.0/24. Each VLAN gateway ends in .1. SERVER0 is 192.168.40.10. The core-to-router and switch uplinks are 802.1Q trunks carrying all four VLANs. The server connects to a core access port in VLAN 40.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At startup, DHCP broadcasts stay inside each VLAN. Router subinterfaces 10, 20 and 30 use ip helper-address 192.168.40.10 to relay those requests to the server. The DHCP ranges are .100–.149 in each client subnet. DNS maps office.local and www.office.local to the server. Router-on-a-stick uses one physical GigabitEthernet0/0 interface with four dot1Q subinterfaces. HTTP then delivers the static demonstration page. Source: Four_Department_Office/configs/R1-OFFICE.txt, README.md, index.html and topology.xml.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final saved lab has two DHCP leases in each of Management, HR and IT. Interactive verification succeeded for Management DHCP renewal, a Management browser opening http://office.local, Management-PC1 to SERVER0 ICMP, HR-PC1 to IT-PC1 ICMP, and IT-PC1 to MANAGEMENT-PC1 ICMP. Initial ARP warm-up packets may fail before a repeated test succeeds. VLANs separate broadcast domains; this lab does not impose department-blocking ACLs. The webpage is static and is not an employee database. Source: Four_Department_Office/Validation_Results.json and README.md.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Thank the audience and invite questions about VLANs, router-on-a-stick, DHCP relay, DNS, HTTP and connectivity testing. Decorative background generated with the built-in image generation tool.</a:t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C3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504825" y="1280150"/>
            <a:ext cx="63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3D7D6"/>
                </a:solidFill>
                <a:latin typeface="Calibri"/>
                <a:ea typeface="Calibri"/>
                <a:cs typeface="Calibri"/>
                <a:sym typeface="Calibri"/>
              </a:rPr>
              <a:t>COMPUTER NETWORKS PROJECT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609600" y="1866900"/>
            <a:ext cx="68580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647700" y="4219575"/>
            <a:ext cx="6667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 |  HR  |  IT  |  Server Room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647700" y="4857750"/>
            <a:ext cx="6286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C2D9E3"/>
                </a:solidFill>
                <a:latin typeface="Calibri"/>
                <a:ea typeface="Calibri"/>
                <a:cs typeface="Calibri"/>
                <a:sym typeface="Calibri"/>
              </a:rPr>
              <a:t>VLAN segmentation and shared server services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647700" y="6076950"/>
            <a:ext cx="6096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3D7D6"/>
                </a:solidFill>
                <a:latin typeface="Calibri"/>
                <a:ea typeface="Calibri"/>
                <a:cs typeface="Calibri"/>
                <a:sym typeface="Calibri"/>
              </a:rPr>
              <a:t>Cisco Packet Tracer</a:t>
            </a:r>
            <a:endParaRPr/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9850" y="0"/>
            <a:ext cx="2682149" cy="5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5756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609600" y="4572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Group members</a:t>
            </a: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11163300" y="638175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628650" y="1143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Computer Networks</a:t>
            </a:r>
            <a:endParaRPr/>
          </a:p>
        </p:txBody>
      </p:sp>
      <p:graphicFrame>
        <p:nvGraphicFramePr>
          <p:cNvPr id="47" name="Google Shape;47;p9"/>
          <p:cNvGraphicFramePr/>
          <p:nvPr/>
        </p:nvGraphicFramePr>
        <p:xfrm>
          <a:off x="457200" y="154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{A862588E-640E-4793-8F46-4180B8729825}</a:tableStyleId>
              </a:tblPr>
              <a:tblGrid>
                <a:gridCol w="4095750"/>
                <a:gridCol w="2000250"/>
                <a:gridCol w="2762250"/>
                <a:gridCol w="2114550"/>
              </a:tblGrid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Calibri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Calibri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Calibri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 No.</a:t>
                      </a:r>
                      <a:endParaRPr/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Calibri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Roll No.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D43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5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102D43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Shreeya Bhatt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A4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24002171310159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150</a:t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DF4F6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DF4F6"/>
                    </a:solidFill>
                  </a:tcPr>
                </a:tc>
              </a:tr>
              <a:tr h="63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D43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CF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850" y="134825"/>
            <a:ext cx="2682149" cy="5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5756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Network topology</a:t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11163300" y="638175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383" y="1171575"/>
            <a:ext cx="10383234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/>
        </p:nvSpPr>
        <p:spPr>
          <a:xfrm>
            <a:off x="628650" y="6334125"/>
            <a:ext cx="10048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1 router   ·   4 switches   ·   6 PCs   ·   1 central server</a:t>
            </a:r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9850" y="0"/>
            <a:ext cx="2682149" cy="5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57562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How the network works</a:t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11163300" y="638175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628650" y="1162050"/>
            <a:ext cx="1095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Example: an employee opens http://office.local</a:t>
            </a:r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628650" y="187642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1590675" y="1866900"/>
            <a:ext cx="9953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DHCP supplies network settings</a:t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1590675" y="2286000"/>
            <a:ext cx="9953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The central server assigns an IP address, gateway and DNS server.</a:t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628650" y="288607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1590675" y="2876550"/>
            <a:ext cx="9953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DNS finds the office server</a:t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1590675" y="3295650"/>
            <a:ext cx="9953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The name office.local resolves to 192.168.40.10.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628650" y="389572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1590675" y="3886200"/>
            <a:ext cx="9953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The router connects the VLANs</a:t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1590675" y="4305300"/>
            <a:ext cx="9953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Traffic crosses the core trunk and the matching router subinterfaces.</a:t>
            </a:r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628650" y="4905375"/>
            <a:ext cx="762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1590675" y="4895850"/>
            <a:ext cx="9953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HTTP delivers the intranet page</a:t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1590675" y="5314950"/>
            <a:ext cx="9953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SERVER0 returns the webpage to the employee’s browser.</a:t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1590675" y="6124575"/>
            <a:ext cx="962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802.1Q trunks carry VLANs 10, 20, 30 and 40 over shared uplinks</a:t>
            </a:r>
            <a:endParaRPr/>
          </a:p>
        </p:txBody>
      </p: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572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9850" y="0"/>
            <a:ext cx="2682149" cy="5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609600" y="4000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Advantages and validation</a:t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1163300" y="638175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628650" y="1352550"/>
            <a:ext cx="590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Why this design helps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628650" y="2009775"/>
            <a:ext cx="581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Less broadcast traffic</a:t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628650" y="2381250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VLANs keep local broadcasts within each department.</a:t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628650" y="2952750"/>
            <a:ext cx="581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Simpler PC configuration</a:t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628650" y="3324225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Central DHCP replaces manual IP address entry.</a:t>
            </a:r>
            <a:endParaRPr/>
          </a:p>
        </p:txBody>
      </p:sp>
      <p:sp>
        <p:nvSpPr>
          <p:cNvPr id="96" name="Google Shape;96;p12"/>
          <p:cNvSpPr/>
          <p:nvPr/>
        </p:nvSpPr>
        <p:spPr>
          <a:xfrm>
            <a:off x="628650" y="3895725"/>
            <a:ext cx="581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Shared office resources</a:t>
            </a: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628650" y="4267200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All departments use the same DNS and Web server.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628650" y="4838700"/>
            <a:ext cx="581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Easy expansion</a:t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628650" y="5210175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Add PCs to available department switch ports.</a:t>
            </a:r>
            <a:endParaRPr/>
          </a:p>
        </p:txBody>
      </p:sp>
      <p:sp>
        <p:nvSpPr>
          <p:cNvPr id="100" name="Google Shape;100;p12"/>
          <p:cNvSpPr/>
          <p:nvPr/>
        </p:nvSpPr>
        <p:spPr>
          <a:xfrm>
            <a:off x="7191375" y="1352550"/>
            <a:ext cx="438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Verified in Packet Tracer</a:t>
            </a:r>
            <a:endParaRPr/>
          </a:p>
        </p:txBody>
      </p:sp>
      <p:sp>
        <p:nvSpPr>
          <p:cNvPr id="101" name="Google Shape;101;p12"/>
          <p:cNvSpPr/>
          <p:nvPr/>
        </p:nvSpPr>
        <p:spPr>
          <a:xfrm>
            <a:off x="7191375" y="2085975"/>
            <a:ext cx="4381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6 DHCP leases</a:t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7191375" y="2686050"/>
            <a:ext cx="4381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Two PCs in each client VLAN</a:t>
            </a:r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7191375" y="341947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Website loads by name</a:t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7191375" y="3857625"/>
            <a:ext cx="438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http://office.local</a:t>
            </a:r>
            <a:endParaRPr/>
          </a:p>
        </p:txBody>
      </p:sp>
      <p:sp>
        <p:nvSpPr>
          <p:cNvPr id="105" name="Google Shape;105;p12"/>
          <p:cNvSpPr/>
          <p:nvPr/>
        </p:nvSpPr>
        <p:spPr>
          <a:xfrm>
            <a:off x="7191375" y="4495800"/>
            <a:ext cx="4381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D43"/>
                </a:solidFill>
                <a:latin typeface="Calibri"/>
                <a:ea typeface="Calibri"/>
                <a:cs typeface="Calibri"/>
                <a:sym typeface="Calibri"/>
              </a:rPr>
              <a:t>Cross-VLAN tests passed</a:t>
            </a:r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7191375" y="4962525"/>
            <a:ext cx="4381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Management–Server, HR–IT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978"/>
                </a:solidFill>
                <a:latin typeface="Calibri"/>
                <a:ea typeface="Calibri"/>
                <a:cs typeface="Calibri"/>
                <a:sym typeface="Calibri"/>
              </a:rPr>
              <a:t>and IT–Management</a:t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628650" y="6153150"/>
            <a:ext cx="10382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08F99"/>
                </a:solidFill>
                <a:latin typeface="Calibri"/>
                <a:ea typeface="Calibri"/>
                <a:cs typeface="Calibri"/>
                <a:sym typeface="Calibri"/>
              </a:rPr>
              <a:t>Current scope: all VLANs may communicate. ACL restrictions can be added later.</a:t>
            </a:r>
            <a:endParaRPr/>
          </a:p>
        </p:txBody>
      </p:sp>
      <p:pic>
        <p:nvPicPr>
          <p:cNvPr id="108" name="Google Shape;10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850" y="0"/>
            <a:ext cx="2682149" cy="5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572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C3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/>
          <p:nvPr/>
        </p:nvSpPr>
        <p:spPr>
          <a:xfrm>
            <a:off x="628650" y="2238375"/>
            <a:ext cx="7524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657225" y="3676650"/>
            <a:ext cx="6858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3D7D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657225" y="5772150"/>
            <a:ext cx="6762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Office Network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657225" y="6200775"/>
            <a:ext cx="6762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C2D9E3"/>
                </a:solidFill>
                <a:latin typeface="Calibri"/>
                <a:ea typeface="Calibri"/>
                <a:cs typeface="Calibri"/>
                <a:sym typeface="Calibri"/>
              </a:rPr>
              <a:t>Computer Networks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